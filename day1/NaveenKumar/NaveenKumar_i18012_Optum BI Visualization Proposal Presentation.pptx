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VZ1gUjMDepmXAuNuIAmXhTKYq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192D57-78E0-4FE5-A77B-8EDF1B043EDC}">
  <a:tblStyle styleId="{35192D57-78E0-4FE5-A77B-8EDF1B043E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by restating their own ask back to them in their language — it signals we listened before we started designing anything.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Texas is illustrative -- the chain itself is what we'd apply to whichever state or LOB the data flags.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Naming both interpretations openly is what turns an ambiguous brief into a scoping conversation instead of a guess.</a:t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Full role-by-role KPI detail for both scenarios is in the companion Excel workbook.</a:t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this part out loud plainly — it is the single most important sentence in the whole deck for earning trust in the room.</a:t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these out loud in the room, not just leave them on the slide — the act of asking is what builds trust.</a:t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rgbClr val="0B1F3F"/>
              </a:gs>
              <a:gs pos="100000">
                <a:srgbClr val="16305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llipse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01" y="0"/>
            <a:ext cx="3302000" cy="330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lipse" id="18" name="Google Shape;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7001" y="4572000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812712" y="2114682"/>
            <a:ext cx="10883574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EF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8FAEFB"/>
                </a:solidFill>
                <a:latin typeface="Inter"/>
                <a:ea typeface="Inter"/>
                <a:cs typeface="Inter"/>
                <a:sym typeface="Inter"/>
              </a:rPr>
              <a:t>CLIENT PROPOSAL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12712" y="2549040"/>
            <a:ext cx="9156701" cy="1412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From Data to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12712" y="4138855"/>
            <a:ext cx="7521575" cy="62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D2E8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C7D2E8"/>
                </a:solidFill>
                <a:latin typeface="Inter"/>
                <a:ea typeface="Inter"/>
                <a:cs typeface="Inter"/>
                <a:sym typeface="Inter"/>
              </a:rPr>
              <a:t>A BI visualization roadmap for Optum Insight — where you're winning, where you're losing, and where the savings are.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812712" y="812712"/>
            <a:ext cx="10883574" cy="4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The ask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15887" y="1618346"/>
            <a:ext cx="10560227" cy="1442685"/>
          </a:xfrm>
          <a:prstGeom prst="roundRect">
            <a:avLst>
              <a:gd fmla="val 8583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19767" y="1622227"/>
            <a:ext cx="101534" cy="1434924"/>
          </a:xfrm>
          <a:prstGeom prst="rect">
            <a:avLst/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276901" y="1977827"/>
            <a:ext cx="10031924" cy="749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"Build a BI visualization tool for understanding where we are winning, losing, and where the potential opportunities for savings are."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15887" y="3422915"/>
            <a:ext cx="3380317" cy="1617641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767" y="3680795"/>
            <a:ext cx="279356" cy="27935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073767" y="4061685"/>
            <a:ext cx="2950492" cy="253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Where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73767" y="4391753"/>
            <a:ext cx="2950492" cy="4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Which markets, lines of business, and segments are performing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405731" y="3422915"/>
            <a:ext cx="3380427" cy="1617641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612" y="3680795"/>
            <a:ext cx="279356" cy="27935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4663612" y="4061685"/>
            <a:ext cx="2950606" cy="253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3612" y="4391753"/>
            <a:ext cx="2950606" cy="4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The internal and external drivers behind that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995686" y="3422915"/>
            <a:ext cx="3380427" cy="1617641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" id="40" name="Google Shape;4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3568" y="3680795"/>
            <a:ext cx="279356" cy="27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8253568" y="4061685"/>
            <a:ext cx="2950606" cy="253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So what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253568" y="4391753"/>
            <a:ext cx="2950606" cy="4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The decision and action each insight should actually drive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205987" y="6256184"/>
            <a:ext cx="224102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812712" y="812713"/>
            <a:ext cx="10883574" cy="4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The framework behind the dashboard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12712" y="1564349"/>
            <a:ext cx="8502651" cy="487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Good BI answers questions. Great BI helps your teams ask better ones — every visual on this dashboard traces back to a decision.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815887" y="3623779"/>
            <a:ext cx="2143610" cy="925755"/>
          </a:xfrm>
          <a:prstGeom prst="roundRect">
            <a:avLst>
              <a:gd fmla="val 10632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574668" y="3856193"/>
            <a:ext cx="62593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096874" y="4145691"/>
            <a:ext cx="1581635" cy="196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Markets, LOBs, segments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54" name="Google Shape;54;p3"/>
          <p:cNvPicPr preferRelativeResize="0"/>
          <p:nvPr/>
        </p:nvPicPr>
        <p:blipFill rotWithShape="1">
          <a:blip r:embed="rId3">
            <a:alphaModFix/>
          </a:blip>
          <a:srcRect b="-9" l="0" r="0" t="-9"/>
          <a:stretch/>
        </p:blipFill>
        <p:spPr>
          <a:xfrm>
            <a:off x="3115028" y="4023210"/>
            <a:ext cx="355534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3626093" y="3623779"/>
            <a:ext cx="2143721" cy="925755"/>
          </a:xfrm>
          <a:prstGeom prst="roundRect">
            <a:avLst>
              <a:gd fmla="val 10632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472958" y="3856193"/>
            <a:ext cx="4499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903001" y="4145691"/>
            <a:ext cx="1589793" cy="196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Internal &amp; external drivers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58" name="Google Shape;58;p3"/>
          <p:cNvPicPr preferRelativeResize="0"/>
          <p:nvPr/>
        </p:nvPicPr>
        <p:blipFill rotWithShape="1">
          <a:blip r:embed="rId3">
            <a:alphaModFix/>
          </a:blip>
          <a:srcRect b="-9" l="0" r="0" t="-9"/>
          <a:stretch/>
        </p:blipFill>
        <p:spPr>
          <a:xfrm>
            <a:off x="5925344" y="4023210"/>
            <a:ext cx="355534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6436409" y="3538119"/>
            <a:ext cx="2143610" cy="1097183"/>
          </a:xfrm>
          <a:prstGeom prst="roundRect">
            <a:avLst>
              <a:gd fmla="val 8971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133895" y="3770534"/>
            <a:ext cx="74863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So what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591295" y="4060033"/>
            <a:ext cx="1833838" cy="368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Opportunities, issues, comparisons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62" name="Google Shape;62;p3"/>
          <p:cNvPicPr preferRelativeResize="0"/>
          <p:nvPr/>
        </p:nvPicPr>
        <p:blipFill rotWithShape="1">
          <a:blip r:embed="rId3">
            <a:alphaModFix/>
          </a:blip>
          <a:srcRect b="-9" l="0" r="0" t="-9"/>
          <a:stretch/>
        </p:blipFill>
        <p:spPr>
          <a:xfrm>
            <a:off x="8735550" y="4023210"/>
            <a:ext cx="355534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9243440" y="3627659"/>
            <a:ext cx="2135849" cy="917994"/>
          </a:xfrm>
          <a:prstGeom prst="roundRect">
            <a:avLst>
              <a:gd fmla="val 11068" name="adj"/>
            </a:avLst>
          </a:prstGeom>
          <a:solidFill>
            <a:srgbClr val="0B1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9536312" y="3856193"/>
            <a:ext cx="154999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 &amp; 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652728" y="4145691"/>
            <a:ext cx="1317272" cy="196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7D2E8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7D2E8"/>
                </a:solidFill>
                <a:latin typeface="Inter"/>
                <a:ea typeface="Inter"/>
                <a:cs typeface="Inter"/>
                <a:sym typeface="Inter"/>
              </a:rPr>
              <a:t>Measurable outcome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204884" y="6256184"/>
            <a:ext cx="225205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812712" y="812712"/>
            <a:ext cx="10883574" cy="430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BI mindset, applied to Optum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12712" y="1421033"/>
            <a:ext cx="10883574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The business context behind the metric matters as much as the chart.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12712" y="1837421"/>
            <a:ext cx="279356" cy="279356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919537" y="1870494"/>
            <a:ext cx="116505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219068" y="1837421"/>
            <a:ext cx="5176988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Define 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219068" y="2048205"/>
            <a:ext cx="5176988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Which states/LOBs are winning, losing, or have MCR savings potential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12712" y="2362949"/>
            <a:ext cx="279356" cy="279356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904324" y="2396023"/>
            <a:ext cx="146822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219068" y="2362949"/>
            <a:ext cx="4836677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Define KPI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219068" y="2573734"/>
            <a:ext cx="4836677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MCR = Claims Cost ÷ Premium Revenue, monthly, by State &amp; LOB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12712" y="2888478"/>
            <a:ext cx="279356" cy="279356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03221" y="2921550"/>
            <a:ext cx="149137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219068" y="2888478"/>
            <a:ext cx="3791787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Define population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219068" y="3099262"/>
            <a:ext cx="3791787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4 lines of business, 50 states, active members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12712" y="3414007"/>
            <a:ext cx="279356" cy="279356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900796" y="3447080"/>
            <a:ext cx="153877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219068" y="3414007"/>
            <a:ext cx="4789099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Validate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219068" y="3624791"/>
            <a:ext cx="4789099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Reconciled monthly against Actuarial's model &amp; Finance's ledger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12712" y="3939535"/>
            <a:ext cx="279356" cy="279356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904985" y="3972609"/>
            <a:ext cx="145609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219068" y="3939535"/>
            <a:ext cx="4497048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Explain variance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219068" y="4150320"/>
            <a:ext cx="4497048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State reassignment, seasonal spikes, new provider contracts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12712" y="4465064"/>
            <a:ext cx="279356" cy="279356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902891" y="4498136"/>
            <a:ext cx="149798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219068" y="4465064"/>
            <a:ext cx="3816995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Design experience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219068" y="4675848"/>
            <a:ext cx="3816995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CEO sees Top/Bottom 10 states and MCR trend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12712" y="4990593"/>
            <a:ext cx="279356" cy="279356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908072" y="5023665"/>
            <a:ext cx="139435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19068" y="4990593"/>
            <a:ext cx="3881719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Enable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19068" y="5201377"/>
            <a:ext cx="3881719" cy="23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Triggers regional intervention or network investment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689615" y="1843771"/>
            <a:ext cx="4683324" cy="3991879"/>
          </a:xfrm>
          <a:prstGeom prst="roundRect">
            <a:avLst>
              <a:gd fmla="val 3659" name="adj"/>
            </a:avLst>
          </a:prstGeom>
          <a:solidFill>
            <a:srgbClr val="F6F7FB"/>
          </a:solidFill>
          <a:ln cap="flat" cmpd="sng" w="12700">
            <a:solidFill>
              <a:srgbClr val="2F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192118" y="2073010"/>
            <a:ext cx="1678208" cy="189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101"/>
              <a:buFont typeface="Inter"/>
              <a:buNone/>
            </a:pPr>
            <a:r>
              <a:rPr b="1" i="0" lang="en-US" sz="1101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Worked example: Texas</a:t>
            </a:r>
            <a:endParaRPr b="0" i="0" sz="11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067406" y="2326018"/>
            <a:ext cx="1927631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0B1F3F"/>
              </a:buClr>
              <a:buSzPts val="979"/>
              <a:buFont typeface="Inter"/>
              <a:buNone/>
            </a:pPr>
            <a:r>
              <a:rPr b="1" i="0" lang="en-US" sz="979" u="none" cap="none" strike="noStrike">
                <a:solidFill>
                  <a:srgbClr val="0B1F3F"/>
                </a:solidFill>
                <a:latin typeface="Inter"/>
                <a:ea typeface="Inter"/>
                <a:cs typeface="Inter"/>
                <a:sym typeface="Inter"/>
              </a:rPr>
              <a:t>Transaction — Claim submitted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954008" y="2585199"/>
            <a:ext cx="154428" cy="195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B7C0D4"/>
              </a:buClr>
              <a:buSzPts val="979"/>
              <a:buFont typeface="Inter"/>
              <a:buNone/>
            </a:pPr>
            <a:r>
              <a:rPr b="0" i="0" lang="en-US" sz="979" u="none" cap="none" strike="noStrike">
                <a:solidFill>
                  <a:srgbClr val="B7C0D4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814301" y="2844270"/>
            <a:ext cx="2433952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0B1F3F"/>
              </a:buClr>
              <a:buSzPts val="979"/>
              <a:buFont typeface="Inter"/>
              <a:buNone/>
            </a:pPr>
            <a:r>
              <a:rPr b="1" i="0" lang="en-US" sz="979" u="none" cap="none" strike="noStrike">
                <a:solidFill>
                  <a:srgbClr val="0B1F3F"/>
                </a:solidFill>
                <a:latin typeface="Inter"/>
                <a:ea typeface="Inter"/>
                <a:cs typeface="Inter"/>
                <a:sym typeface="Inter"/>
              </a:rPr>
              <a:t>Information — Claims &amp; premium report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954008" y="3103452"/>
            <a:ext cx="154428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B7C0D4"/>
              </a:buClr>
              <a:buSzPts val="979"/>
              <a:buFont typeface="Inter"/>
              <a:buNone/>
            </a:pPr>
            <a:r>
              <a:rPr b="0" i="0" lang="en-US" sz="979" u="none" cap="none" strike="noStrike">
                <a:solidFill>
                  <a:srgbClr val="B7C0D4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8111235" y="3362634"/>
            <a:ext cx="1840083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0B1F3F"/>
              </a:buClr>
              <a:buSzPts val="979"/>
              <a:buFont typeface="Inter"/>
              <a:buNone/>
            </a:pPr>
            <a:r>
              <a:rPr b="1" i="0" lang="en-US" sz="979" u="none" cap="none" strike="noStrike">
                <a:solidFill>
                  <a:srgbClr val="0B1F3F"/>
                </a:solidFill>
                <a:latin typeface="Inter"/>
                <a:ea typeface="Inter"/>
                <a:cs typeface="Inter"/>
                <a:sym typeface="Inter"/>
              </a:rPr>
              <a:t>Insight — Texas MCR up 4 pts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954008" y="3621815"/>
            <a:ext cx="154428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B7C0D4"/>
              </a:buClr>
              <a:buSzPts val="979"/>
              <a:buFont typeface="Inter"/>
              <a:buNone/>
            </a:pPr>
            <a:r>
              <a:rPr b="0" i="0" lang="en-US" sz="979" u="none" cap="none" strike="noStrike">
                <a:solidFill>
                  <a:srgbClr val="B7C0D4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166652" y="3880996"/>
            <a:ext cx="1729140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0B1F3F"/>
              </a:buClr>
              <a:buSzPts val="979"/>
              <a:buFont typeface="Inter"/>
              <a:buNone/>
            </a:pPr>
            <a:r>
              <a:rPr b="1" i="0" lang="en-US" sz="979" u="none" cap="none" strike="noStrike">
                <a:solidFill>
                  <a:srgbClr val="0B1F3F"/>
                </a:solidFill>
                <a:latin typeface="Inter"/>
                <a:ea typeface="Inter"/>
                <a:cs typeface="Inter"/>
                <a:sym typeface="Inter"/>
              </a:rPr>
              <a:t>Question — Why is it rising?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954008" y="4140178"/>
            <a:ext cx="154428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B7C0D4"/>
              </a:buClr>
              <a:buSzPts val="979"/>
              <a:buFont typeface="Inter"/>
              <a:buNone/>
            </a:pPr>
            <a:r>
              <a:rPr b="0" i="0" lang="en-US" sz="979" u="none" cap="none" strike="noStrike">
                <a:solidFill>
                  <a:srgbClr val="B7C0D4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888678" y="4399359"/>
            <a:ext cx="2285087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0B1F3F"/>
              </a:buClr>
              <a:buSzPts val="979"/>
              <a:buFont typeface="Inter"/>
              <a:buNone/>
            </a:pPr>
            <a:r>
              <a:rPr b="1" i="0" lang="en-US" sz="979" u="none" cap="none" strike="noStrike">
                <a:solidFill>
                  <a:srgbClr val="0B1F3F"/>
                </a:solidFill>
                <a:latin typeface="Inter"/>
                <a:ea typeface="Inter"/>
                <a:cs typeface="Inter"/>
                <a:sym typeface="Inter"/>
              </a:rPr>
              <a:t>Decision — Expand provider network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954008" y="4658540"/>
            <a:ext cx="154428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B7C0D4"/>
              </a:buClr>
              <a:buSzPts val="979"/>
              <a:buFont typeface="Inter"/>
              <a:buNone/>
            </a:pPr>
            <a:r>
              <a:rPr b="0" i="0" lang="en-US" sz="979" u="none" cap="none" strike="noStrike">
                <a:solidFill>
                  <a:srgbClr val="B7C0D4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977361" y="4917722"/>
            <a:ext cx="2107722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0B1F3F"/>
              </a:buClr>
              <a:buSzPts val="979"/>
              <a:buFont typeface="Inter"/>
              <a:buNone/>
            </a:pPr>
            <a:r>
              <a:rPr b="1" i="0" lang="en-US" sz="979" u="none" cap="none" strike="noStrike">
                <a:solidFill>
                  <a:srgbClr val="0B1F3F"/>
                </a:solidFill>
                <a:latin typeface="Inter"/>
                <a:ea typeface="Inter"/>
                <a:cs typeface="Inter"/>
                <a:sym typeface="Inter"/>
              </a:rPr>
              <a:t>Action — Negotiate new contracts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954008" y="5176903"/>
            <a:ext cx="154428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B7C0D4"/>
              </a:buClr>
              <a:buSzPts val="979"/>
              <a:buFont typeface="Inter"/>
              <a:buNone/>
            </a:pPr>
            <a:r>
              <a:rPr b="0" i="0" lang="en-US" sz="979" u="none" cap="none" strike="noStrike">
                <a:solidFill>
                  <a:srgbClr val="B7C0D4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932734" y="5436085"/>
            <a:ext cx="2197086" cy="19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9938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979"/>
              <a:buFont typeface="Inter"/>
              <a:buNone/>
            </a:pPr>
            <a:r>
              <a:rPr b="1" i="0" lang="en-US" sz="979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Outcome — MCR back under target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1200916" y="6256184"/>
            <a:ext cx="229173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812712" y="812713"/>
            <a:ext cx="10883574" cy="44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000"/>
              <a:buFont typeface="Inter"/>
              <a:buNone/>
            </a:pPr>
            <a:r>
              <a:rPr b="1" i="0" lang="en-US" sz="30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Two ways to read "winning, losing, savings"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12712" y="1485748"/>
            <a:ext cx="85026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We're presenting both, clearly labeled, until scope is confirmed in Discovery.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19062" y="1968348"/>
            <a:ext cx="5176000" cy="3867305"/>
          </a:xfrm>
          <a:prstGeom prst="roundRect">
            <a:avLst>
              <a:gd fmla="val 3120" name="adj"/>
            </a:avLst>
          </a:prstGeom>
          <a:solidFill>
            <a:srgbClr val="FFFFFF"/>
          </a:solidFill>
          <a:ln cap="flat" cmpd="sng" w="12700">
            <a:solidFill>
              <a:srgbClr val="2F5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099123" y="2248408"/>
            <a:ext cx="4754353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SCENARIO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99123" y="2558083"/>
            <a:ext cx="4754353" cy="284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Healthcare Performance (MCR)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99123" y="2931254"/>
            <a:ext cx="4754353" cy="22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Winning</a:t>
            </a:r>
            <a:r>
              <a:rPr b="0" i="0" lang="en-US" sz="115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 — growing membership &amp; revenue by state/LOB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99123" y="3199256"/>
            <a:ext cx="4754353" cy="22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Losing</a:t>
            </a:r>
            <a:r>
              <a:rPr b="0" i="0" lang="en-US" sz="115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 — declining enrollment, rising MCR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99123" y="3467255"/>
            <a:ext cx="4754353" cy="22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Savings</a:t>
            </a:r>
            <a:r>
              <a:rPr b="0" i="0" lang="en-US" sz="115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 — MCR reduction, care management efficiency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99123" y="3785967"/>
            <a:ext cx="4754353" cy="21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Primary data: enrollment, claims, MCR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204590" y="1961998"/>
            <a:ext cx="5174699" cy="3880005"/>
          </a:xfrm>
          <a:prstGeom prst="roundRect">
            <a:avLst>
              <a:gd fmla="val 3273" name="adj"/>
            </a:avLst>
          </a:prstGeom>
          <a:solidFill>
            <a:srgbClr val="0B1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483946" y="2241352"/>
            <a:ext cx="4754467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EF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8FAEFB"/>
                </a:solidFill>
                <a:latin typeface="Inter"/>
                <a:ea typeface="Inter"/>
                <a:cs typeface="Inter"/>
                <a:sym typeface="Inter"/>
              </a:rPr>
              <a:t>SCENARIO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83946" y="2551026"/>
            <a:ext cx="4754467" cy="284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 Pipeline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83946" y="2924200"/>
            <a:ext cx="4754467" cy="22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F4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E4E9F4"/>
                </a:solidFill>
                <a:latin typeface="Inter"/>
                <a:ea typeface="Inter"/>
                <a:cs typeface="Inter"/>
                <a:sym typeface="Inter"/>
              </a:rPr>
              <a:t>Winning</a:t>
            </a:r>
            <a:r>
              <a:rPr b="0" i="0" lang="en-US" sz="1150" u="none" cap="none" strike="noStrike">
                <a:solidFill>
                  <a:srgbClr val="E4E9F4"/>
                </a:solidFill>
                <a:latin typeface="Inter"/>
                <a:ea typeface="Inter"/>
                <a:cs typeface="Inter"/>
                <a:sym typeface="Inter"/>
              </a:rPr>
              <a:t> — deals won vs. named competitors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83946" y="3192199"/>
            <a:ext cx="4754467" cy="22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F4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E4E9F4"/>
                </a:solidFill>
                <a:latin typeface="Inter"/>
                <a:ea typeface="Inter"/>
                <a:cs typeface="Inter"/>
                <a:sym typeface="Inter"/>
              </a:rPr>
              <a:t>Losing</a:t>
            </a:r>
            <a:r>
              <a:rPr b="0" i="0" lang="en-US" sz="1150" u="none" cap="none" strike="noStrike">
                <a:solidFill>
                  <a:srgbClr val="E4E9F4"/>
                </a:solidFill>
                <a:latin typeface="Inter"/>
                <a:ea typeface="Inter"/>
                <a:cs typeface="Inter"/>
                <a:sym typeface="Inter"/>
              </a:rPr>
              <a:t> — deals lost, and why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83946" y="3460201"/>
            <a:ext cx="4754467" cy="22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F4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E4E9F4"/>
                </a:solidFill>
                <a:latin typeface="Inter"/>
                <a:ea typeface="Inter"/>
                <a:cs typeface="Inter"/>
                <a:sym typeface="Inter"/>
              </a:rPr>
              <a:t>Savings</a:t>
            </a:r>
            <a:r>
              <a:rPr b="0" i="0" lang="en-US" sz="1150" u="none" cap="none" strike="noStrike">
                <a:solidFill>
                  <a:srgbClr val="E4E9F4"/>
                </a:solidFill>
                <a:latin typeface="Inter"/>
                <a:ea typeface="Inter"/>
                <a:cs typeface="Inter"/>
                <a:sym typeface="Inter"/>
              </a:rPr>
              <a:t> — cost-to-serve vs. contract margin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83946" y="3778914"/>
            <a:ext cx="4754467" cy="21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AC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AAAC9"/>
                </a:solidFill>
                <a:latin typeface="Inter"/>
                <a:ea typeface="Inter"/>
                <a:cs typeface="Inter"/>
                <a:sym typeface="Inter"/>
              </a:rPr>
              <a:t>Primary data: CRM, contracts, finance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208302" y="6256186"/>
            <a:ext cx="221787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812712" y="812710"/>
            <a:ext cx="10883574" cy="44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000"/>
              <a:buFont typeface="Inter"/>
              <a:buNone/>
            </a:pPr>
            <a:r>
              <a:rPr b="1" i="0" lang="en-US" sz="30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Roles, translated to Optum Healthcare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12712" y="1460277"/>
            <a:ext cx="882967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Optum is a payer/analytics business, not a manufacturer — generic roles map to real equivalents.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6"/>
          <p:cNvGraphicFramePr/>
          <p:nvPr/>
        </p:nvGraphicFramePr>
        <p:xfrm>
          <a:off x="812712" y="1911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{35192D57-78E0-4FE5-A77B-8EDF1B043EDC}</a:tableStyleId>
              </a:tblPr>
              <a:tblGrid>
                <a:gridCol w="2113325"/>
                <a:gridCol w="4015300"/>
                <a:gridCol w="4437950"/>
              </a:tblGrid>
              <a:tr h="43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Generic Role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Optum Equivalent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Notes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F"/>
                    </a:solidFill>
                  </a:tcPr>
                </a:tc>
              </a:tr>
              <a:tr h="62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CEO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CEO / Executive Sponsor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Owns the winning/losing/savings question across both scenarios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</a:tr>
              <a:tr h="62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Regional President / State Manager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Owns multi-state or single-state MCR and growth performance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Operations / Claims Administrator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Manages claims workflows and operational compliance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</a:tr>
              <a:tr h="43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Worker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Claims Associate / Care Coordinator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Front-line staff whose work rolls into claims &amp; care-gap KPIs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Distributor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Broker / Channel Partner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Sells Optum plans to employers; a sales channel in both scenarios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</a:tr>
              <a:tr h="43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Client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Employer Group (B2B) &amp; Member (individual)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Two distinct client types with different KPIs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6"/>
          <p:cNvSpPr/>
          <p:nvPr/>
        </p:nvSpPr>
        <p:spPr>
          <a:xfrm>
            <a:off x="11204553" y="6256182"/>
            <a:ext cx="225535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812712" y="812710"/>
            <a:ext cx="10883574" cy="44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000"/>
              <a:buFont typeface="Inter"/>
              <a:buNone/>
            </a:pPr>
            <a:r>
              <a:rPr b="1" i="0" lang="en-US" sz="30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How this solution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12712" y="1511102"/>
            <a:ext cx="85026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From raw Optum data to a decision — six stages, whichever scenario we build 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12700" y="2012703"/>
            <a:ext cx="1443600" cy="1494900"/>
          </a:xfrm>
          <a:prstGeom prst="roundRect">
            <a:avLst>
              <a:gd fmla="val 5279" name="adj"/>
            </a:avLst>
          </a:prstGeom>
          <a:solidFill>
            <a:srgbClr val="F6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7"/>
          <p:cNvCxnSpPr/>
          <p:nvPr/>
        </p:nvCxnSpPr>
        <p:spPr>
          <a:xfrm>
            <a:off x="812712" y="2031755"/>
            <a:ext cx="1443523" cy="0"/>
          </a:xfrm>
          <a:prstGeom prst="straightConnector1">
            <a:avLst/>
          </a:prstGeom>
          <a:noFill/>
          <a:ln cap="flat" cmpd="sng" w="38100">
            <a:solidFill>
              <a:srgbClr val="2F5F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939712" y="2225697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036505" y="2254910"/>
            <a:ext cx="111103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39712" y="2568553"/>
            <a:ext cx="1240323" cy="20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39712" y="2840189"/>
            <a:ext cx="1240323" cy="558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Enrollment, claims, financial, provider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3235" y="2012705"/>
            <a:ext cx="127000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2637225" y="2012703"/>
            <a:ext cx="1443600" cy="1494900"/>
          </a:xfrm>
          <a:prstGeom prst="roundRect">
            <a:avLst>
              <a:gd fmla="val 5278" name="adj"/>
            </a:avLst>
          </a:prstGeom>
          <a:solidFill>
            <a:srgbClr val="F6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7"/>
          <p:cNvCxnSpPr/>
          <p:nvPr/>
        </p:nvCxnSpPr>
        <p:spPr>
          <a:xfrm>
            <a:off x="2637235" y="2031755"/>
            <a:ext cx="1443633" cy="0"/>
          </a:xfrm>
          <a:prstGeom prst="straightConnector1">
            <a:avLst/>
          </a:prstGeom>
          <a:noFill/>
          <a:ln cap="flat" cmpd="sng" w="38100">
            <a:solidFill>
              <a:srgbClr val="2F5F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2764235" y="2225697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847248" y="2254910"/>
            <a:ext cx="138774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764235" y="2568553"/>
            <a:ext cx="1240433" cy="20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Prepare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764235" y="2840189"/>
            <a:ext cx="1240433" cy="558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Power Query: clean, transform, combine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868" y="2012705"/>
            <a:ext cx="127000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4461875" y="2012703"/>
            <a:ext cx="1443600" cy="1494900"/>
          </a:xfrm>
          <a:prstGeom prst="roundRect">
            <a:avLst>
              <a:gd fmla="val 5279" name="adj"/>
            </a:avLst>
          </a:prstGeom>
          <a:solidFill>
            <a:srgbClr val="F6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7"/>
          <p:cNvCxnSpPr/>
          <p:nvPr/>
        </p:nvCxnSpPr>
        <p:spPr>
          <a:xfrm>
            <a:off x="4461868" y="2031755"/>
            <a:ext cx="1443523" cy="0"/>
          </a:xfrm>
          <a:prstGeom prst="straightConnector1">
            <a:avLst/>
          </a:prstGeom>
          <a:noFill/>
          <a:ln cap="flat" cmpd="sng" w="38100">
            <a:solidFill>
              <a:srgbClr val="2F5F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7"/>
          <p:cNvSpPr/>
          <p:nvPr/>
        </p:nvSpPr>
        <p:spPr>
          <a:xfrm>
            <a:off x="4588868" y="2225697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670778" y="2254910"/>
            <a:ext cx="140979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88868" y="2568553"/>
            <a:ext cx="1240323" cy="20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88868" y="2840189"/>
            <a:ext cx="1240323" cy="38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Star schema: fact &amp; dimension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2390" y="2012705"/>
            <a:ext cx="127000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6286400" y="2012703"/>
            <a:ext cx="1443600" cy="1494900"/>
          </a:xfrm>
          <a:prstGeom prst="roundRect">
            <a:avLst>
              <a:gd fmla="val 5278" name="adj"/>
            </a:avLst>
          </a:prstGeom>
          <a:solidFill>
            <a:srgbClr val="F6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7"/>
          <p:cNvCxnSpPr/>
          <p:nvPr/>
        </p:nvCxnSpPr>
        <p:spPr>
          <a:xfrm>
            <a:off x="6286390" y="2031755"/>
            <a:ext cx="1443633" cy="0"/>
          </a:xfrm>
          <a:prstGeom prst="straightConnector1">
            <a:avLst/>
          </a:prstGeom>
          <a:noFill/>
          <a:ln cap="flat" cmpd="sng" w="38100">
            <a:solidFill>
              <a:srgbClr val="2F5F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7"/>
          <p:cNvSpPr/>
          <p:nvPr/>
        </p:nvSpPr>
        <p:spPr>
          <a:xfrm>
            <a:off x="6413390" y="2225697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493096" y="2254910"/>
            <a:ext cx="145278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413390" y="2568553"/>
            <a:ext cx="1240433" cy="20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Calculate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413390" y="2840189"/>
            <a:ext cx="1240433" cy="38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DAX: MCR, growth, PMPM, loss ratio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7023" y="2012705"/>
            <a:ext cx="127000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8111025" y="2012703"/>
            <a:ext cx="1443600" cy="1494900"/>
          </a:xfrm>
          <a:prstGeom prst="roundRect">
            <a:avLst>
              <a:gd fmla="val 5278" name="adj"/>
            </a:avLst>
          </a:prstGeom>
          <a:solidFill>
            <a:srgbClr val="F6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7"/>
          <p:cNvCxnSpPr/>
          <p:nvPr/>
        </p:nvCxnSpPr>
        <p:spPr>
          <a:xfrm>
            <a:off x="8111023" y="2031755"/>
            <a:ext cx="1443633" cy="0"/>
          </a:xfrm>
          <a:prstGeom prst="straightConnector1">
            <a:avLst/>
          </a:prstGeom>
          <a:noFill/>
          <a:ln cap="flat" cmpd="sng" w="38100">
            <a:solidFill>
              <a:srgbClr val="2F5F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7"/>
          <p:cNvSpPr/>
          <p:nvPr/>
        </p:nvSpPr>
        <p:spPr>
          <a:xfrm>
            <a:off x="8238023" y="2225697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F5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8321587" y="2254910"/>
            <a:ext cx="137672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238023" y="2568553"/>
            <a:ext cx="1240433" cy="20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Visualize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238023" y="2840189"/>
            <a:ext cx="1240433" cy="558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Power BI dashboard, role-based 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1656" y="2012705"/>
            <a:ext cx="127000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9935650" y="2012703"/>
            <a:ext cx="1443600" cy="1494900"/>
          </a:xfrm>
          <a:prstGeom prst="roundRect">
            <a:avLst>
              <a:gd fmla="val 5278" name="adj"/>
            </a:avLst>
          </a:prstGeom>
          <a:solidFill>
            <a:srgbClr val="0B1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7"/>
          <p:cNvCxnSpPr/>
          <p:nvPr/>
        </p:nvCxnSpPr>
        <p:spPr>
          <a:xfrm>
            <a:off x="9935656" y="2031755"/>
            <a:ext cx="1443633" cy="0"/>
          </a:xfrm>
          <a:prstGeom prst="straightConnector1">
            <a:avLst/>
          </a:prstGeom>
          <a:noFill/>
          <a:ln cap="flat" cmpd="sng" w="381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7"/>
          <p:cNvSpPr/>
          <p:nvPr/>
        </p:nvSpPr>
        <p:spPr>
          <a:xfrm>
            <a:off x="10062656" y="2225697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0144236" y="2254910"/>
            <a:ext cx="141530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1F3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B1F3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0062656" y="2568553"/>
            <a:ext cx="1240433" cy="20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0062656" y="2840189"/>
            <a:ext cx="1240433" cy="38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D2E8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7D2E8"/>
                </a:solidFill>
                <a:latin typeface="Inter"/>
                <a:ea typeface="Inter"/>
                <a:cs typeface="Inter"/>
                <a:sym typeface="Inter"/>
              </a:rPr>
              <a:t>Winning, losing, and savings 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1214806" y="6256182"/>
            <a:ext cx="215283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812712" y="812710"/>
            <a:ext cx="10883574" cy="4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What we're working from 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15887" y="1542166"/>
            <a:ext cx="4870583" cy="849687"/>
          </a:xfrm>
          <a:prstGeom prst="roundRect">
            <a:avLst>
              <a:gd fmla="val 11584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022945" y="1749227"/>
            <a:ext cx="4590160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Member &amp; revenue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22945" y="1998045"/>
            <a:ext cx="4590160" cy="21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Enrollment, revenue, and growth trends by state and region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15887" y="2550561"/>
            <a:ext cx="4870583" cy="849687"/>
          </a:xfrm>
          <a:prstGeom prst="roundRect">
            <a:avLst>
              <a:gd fmla="val 11584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022945" y="2757618"/>
            <a:ext cx="4590160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Medical Care Ratio (MCR)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022945" y="3006437"/>
            <a:ext cx="4590160" cy="21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Our working definition of the "savings opportunity" signal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15887" y="3558955"/>
            <a:ext cx="4870583" cy="849687"/>
          </a:xfrm>
          <a:prstGeom prst="roundRect">
            <a:avLst>
              <a:gd fmla="val 11584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022945" y="3766012"/>
            <a:ext cx="4590160" cy="2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Lines of business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022945" y="4014834"/>
            <a:ext cx="4590160" cy="21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Commercial, Medicare Advantage, Medicaid, Other/Specialty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892825" y="1538997"/>
            <a:ext cx="5486400" cy="2869800"/>
          </a:xfrm>
          <a:prstGeom prst="roundRect">
            <a:avLst>
              <a:gd fmla="val 2361" name="adj"/>
            </a:avLst>
          </a:prstGeom>
          <a:solidFill>
            <a:srgbClr val="0B1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197534" y="2151861"/>
            <a:ext cx="50235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are working hypotheses, not confirmed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197597" y="3087720"/>
            <a:ext cx="50235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7D2E8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C7D2E8"/>
                </a:solidFill>
                <a:latin typeface="Inter"/>
                <a:ea typeface="Inter"/>
                <a:cs typeface="Inter"/>
                <a:sym typeface="Inter"/>
              </a:rPr>
              <a:t>Everything on the prior slides is built from publicly available patterns. Discovery is where we validate these against your actual definitions and 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1204774" y="6256186"/>
            <a:ext cx="225315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812712" y="812713"/>
            <a:ext cx="10883574" cy="4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Questions we need answered first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12712" y="1538994"/>
            <a:ext cx="8502651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Before we scope the build, we'd rather ask than assume.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>
            <a:off x="812712" y="2764369"/>
            <a:ext cx="10566577" cy="0"/>
          </a:xfrm>
          <a:prstGeom prst="straightConnector1">
            <a:avLst/>
          </a:prstGeom>
          <a:noFill/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863424" y="2227244"/>
            <a:ext cx="457156" cy="380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472958" y="2289423"/>
            <a:ext cx="10082930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Does "winning / losing" mean market performance, line-of-business competition, or deal-level sales outcomes — or all three?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9"/>
          <p:cNvCxnSpPr/>
          <p:nvPr/>
        </p:nvCxnSpPr>
        <p:spPr>
          <a:xfrm>
            <a:off x="812712" y="3482384"/>
            <a:ext cx="10566577" cy="0"/>
          </a:xfrm>
          <a:prstGeom prst="straightConnector1">
            <a:avLst/>
          </a:prstGeom>
          <a:noFill/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9"/>
          <p:cNvSpPr/>
          <p:nvPr/>
        </p:nvSpPr>
        <p:spPr>
          <a:xfrm>
            <a:off x="863424" y="2945259"/>
            <a:ext cx="457156" cy="380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472958" y="3007432"/>
            <a:ext cx="8650947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Is MCR the right proxy for "savings opportunity," or is there a different internal definition we should build to?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9"/>
          <p:cNvCxnSpPr/>
          <p:nvPr/>
        </p:nvCxnSpPr>
        <p:spPr>
          <a:xfrm>
            <a:off x="812712" y="4200393"/>
            <a:ext cx="10566577" cy="0"/>
          </a:xfrm>
          <a:prstGeom prst="straightConnector1">
            <a:avLst/>
          </a:prstGeom>
          <a:noFill/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>
            <a:off x="863424" y="3663268"/>
            <a:ext cx="457156" cy="380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472958" y="3725447"/>
            <a:ext cx="8050720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One unified dashboard, or a family of views per line of business rolling up to an executive summary?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863424" y="4381283"/>
            <a:ext cx="457156" cy="380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472958" y="4443462"/>
            <a:ext cx="8245004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What's your existing BI/data stack, and who owns access to enrollment, claims, and financial systems?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1204553" y="6256189"/>
            <a:ext cx="225535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/>
          <p:nvPr/>
        </p:nvSpPr>
        <p:spPr>
          <a:xfrm>
            <a:off x="812712" y="812713"/>
            <a:ext cx="10883574" cy="4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A phased build, not a big bang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12712" y="1564351"/>
            <a:ext cx="8502651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If an assumption is wrong, we find out in two weeks — not after the whole thing is built.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15887" y="2103419"/>
            <a:ext cx="3402035" cy="3735410"/>
          </a:xfrm>
          <a:prstGeom prst="roundRect">
            <a:avLst>
              <a:gd fmla="val 2893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073767" y="2361301"/>
            <a:ext cx="2972862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073767" y="2670969"/>
            <a:ext cx="2972862" cy="284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Discovery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073767" y="3044143"/>
            <a:ext cx="2972862" cy="62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Confirm scope, definitions, data sources, and governance constraints with your teams. ~2 weeks.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401983" y="2103419"/>
            <a:ext cx="3402145" cy="3735410"/>
          </a:xfrm>
          <a:prstGeom prst="roundRect">
            <a:avLst>
              <a:gd fmla="val 2893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659864" y="2361301"/>
            <a:ext cx="2972975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FE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F5FE0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659864" y="2670969"/>
            <a:ext cx="2972975" cy="284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659864" y="3044143"/>
            <a:ext cx="2972975" cy="62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Build one region or line of business end-to-end. Validate with real users before scaling further.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985015" y="2100244"/>
            <a:ext cx="3394273" cy="3741760"/>
          </a:xfrm>
          <a:prstGeom prst="roundRect">
            <a:avLst>
              <a:gd fmla="val 2993" name="adj"/>
            </a:avLst>
          </a:prstGeom>
          <a:solidFill>
            <a:srgbClr val="0B1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8239015" y="2354244"/>
            <a:ext cx="2972862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EF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8FAEFB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8239015" y="2663918"/>
            <a:ext cx="2972862" cy="284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rollout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239015" y="3037086"/>
            <a:ext cx="2972862" cy="62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7D2E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C7D2E8"/>
                </a:solidFill>
                <a:latin typeface="Inter"/>
                <a:ea typeface="Inter"/>
                <a:cs typeface="Inter"/>
                <a:sym typeface="Inter"/>
              </a:rPr>
              <a:t>Extend the validated model across all lines of business, with role-based access and training.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1234319" y="6256189"/>
            <a:ext cx="195770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/>
          <p:nvPr/>
        </p:nvSpPr>
        <p:spPr>
          <a:xfrm>
            <a:off x="812712" y="812707"/>
            <a:ext cx="10883574" cy="4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A preview: KPIs by role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12712" y="1513632"/>
            <a:ext cx="8502651" cy="25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Inter"/>
                <a:ea typeface="Inter"/>
                <a:cs typeface="Inter"/>
                <a:sym typeface="Inter"/>
              </a:rPr>
              <a:t>Four of the twelve roles we've mapped — the full set is in the appendix.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11"/>
          <p:cNvGraphicFramePr/>
          <p:nvPr/>
        </p:nvGraphicFramePr>
        <p:xfrm>
          <a:off x="812712" y="19988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{35192D57-78E0-4FE5-A77B-8EDF1B043EDC}</a:tableStyleId>
              </a:tblPr>
              <a:tblGrid>
                <a:gridCol w="2324650"/>
                <a:gridCol w="2747300"/>
                <a:gridCol w="2747300"/>
                <a:gridCol w="2747300"/>
              </a:tblGrid>
              <a:tr h="45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CEO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State / Market Manager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Actuarial &amp; Underwriting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Finance Manager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F"/>
                    </a:solidFill>
                  </a:tcPr>
                </a:tc>
              </a:tr>
              <a:tr h="45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revenue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Members by state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MCR trend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 &amp; margin by LOB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</a:tr>
              <a:tr h="45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members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 by state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Claims cost per member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 per member per month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Medical Care Ratio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MCR by state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Loss ratio by LOB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Budget vs. actual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7FB"/>
                    </a:solidFill>
                  </a:tcPr>
                </a:tc>
              </a:tr>
              <a:tr h="45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Member satisfaction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YoY growth %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 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2B"/>
                        </a:buClr>
                        <a:buSzPts val="1100"/>
                        <a:buFont typeface="Inter"/>
                        <a:buNone/>
                      </a:pPr>
                      <a:r>
                        <a:rPr lang="en-US" sz="1100" u="none" cap="none" strike="noStrike">
                          <a:solidFill>
                            <a:srgbClr val="1217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 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27000" marB="127000" marR="152400" marL="152400">
                    <a:lnL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C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11"/>
          <p:cNvSpPr/>
          <p:nvPr/>
        </p:nvSpPr>
        <p:spPr>
          <a:xfrm>
            <a:off x="11265628" y="6256182"/>
            <a:ext cx="164461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/>
          <p:nvPr/>
        </p:nvSpPr>
        <p:spPr>
          <a:xfrm>
            <a:off x="812712" y="812707"/>
            <a:ext cx="10883574" cy="4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72B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12172B"/>
                </a:solidFill>
                <a:latin typeface="Inter"/>
                <a:ea typeface="Inter"/>
                <a:cs typeface="Inter"/>
                <a:sym typeface="Inter"/>
              </a:rPr>
              <a:t>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815887" y="2549345"/>
            <a:ext cx="10560227" cy="668117"/>
          </a:xfrm>
          <a:prstGeom prst="roundRect">
            <a:avLst>
              <a:gd fmla="val 14732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t" id="272" name="Google Shape;2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767" y="2756402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/>
          <p:nvPr/>
        </p:nvSpPr>
        <p:spPr>
          <a:xfrm>
            <a:off x="1505479" y="2758939"/>
            <a:ext cx="5177101" cy="27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A 30-minute scoping call to answer the four open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815887" y="3376166"/>
            <a:ext cx="10560227" cy="668117"/>
          </a:xfrm>
          <a:prstGeom prst="roundRect">
            <a:avLst>
              <a:gd fmla="val 14732" name="adj"/>
            </a:avLst>
          </a:prstGeom>
          <a:solidFill>
            <a:srgbClr val="FFFFFF"/>
          </a:solidFill>
          <a:ln cap="flat" cmpd="sng" w="9525">
            <a:solidFill>
              <a:srgbClr val="E1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Circle" id="275" name="Google Shape;2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3767" y="3583229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1505479" y="3585766"/>
            <a:ext cx="4754353" cy="27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44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1B2440"/>
                </a:solidFill>
                <a:latin typeface="Inter"/>
                <a:ea typeface="Inter"/>
                <a:cs typeface="Inter"/>
                <a:sym typeface="Inter"/>
              </a:rPr>
              <a:t>Sign-off on the phased plan and the Discovery 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12712" y="4199818"/>
            <a:ext cx="10566577" cy="660356"/>
          </a:xfrm>
          <a:prstGeom prst="roundRect">
            <a:avLst>
              <a:gd fmla="val 15386" name="adj"/>
            </a:avLst>
          </a:prstGeom>
          <a:solidFill>
            <a:srgbClr val="0B1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ning" id="278" name="Google Shape;2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712" y="4402993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/>
          <p:nvPr/>
        </p:nvSpPr>
        <p:spPr>
          <a:xfrm>
            <a:off x="1498424" y="4405530"/>
            <a:ext cx="4065443" cy="27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Kick off Discovery within one week of approval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812712" y="6256182"/>
            <a:ext cx="6350190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Ideas2IT · Optum BI Visualization Proposal  ·  Full KPI &amp; role detail in the companion workbook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11237295" y="6256182"/>
            <a:ext cx="192793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3A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B93A6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rgbClr val="0B1F3F"/>
              </a:gs>
              <a:gs pos="100000">
                <a:srgbClr val="16305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llipse" id="288" name="Google Shape;2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0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/>
          <p:nvPr/>
        </p:nvSpPr>
        <p:spPr>
          <a:xfrm>
            <a:off x="812712" y="2700071"/>
            <a:ext cx="10883574" cy="696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12712" y="3548391"/>
            <a:ext cx="7194550" cy="634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7D2E8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C7D2E8"/>
                </a:solidFill>
                <a:latin typeface="Inter"/>
                <a:ea typeface="Inter"/>
                <a:cs typeface="Inter"/>
                <a:sym typeface="Inter"/>
              </a:rPr>
              <a:t>We're looking forward to helping Optum Insight see where you're winning and where the next win is waiting.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2026-09-21T15:44:49Z</dcterms:created>
  <dc:creator>PptxGenJS</dc:creator>
</cp:coreProperties>
</file>